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F7A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0"/>
            <a:ext cx="2834640" cy="6858000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4" name="Shape 2"/>
          <p:cNvSpPr/>
          <p:nvPr/>
        </p:nvSpPr>
        <p:spPr>
          <a:xfrm>
            <a:off x="8503920" y="0"/>
            <a:ext cx="274320" cy="68580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RSAI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4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남양주시 AI 업무지원 시스템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907792"/>
            <a:ext cx="4114800" cy="0"/>
          </a:xfrm>
          <a:prstGeom prst="line">
            <a:avLst/>
          </a:prstGeom>
          <a:noFill/>
          <a:ln w="25400">
            <a:solidFill>
              <a:srgbClr val="2D8A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06324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E4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 사용 안내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A8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남양주시 정보통신과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B3F7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0"/>
            <a:ext cx="1584960" cy="91440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74320"/>
            <a:ext cx="64008" cy="438912"/>
          </a:xfrm>
          <a:prstGeom prst="rect">
            <a:avLst/>
          </a:prstGeom>
          <a:solidFill>
            <a:srgbClr val="1B3F7A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23774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메뉴 구성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" y="566928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RSAI는 AI 채팅과 다양한 문서 자동 생성 도구로 구성됩니다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877824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6766560"/>
            <a:ext cx="12192000" cy="73152"/>
          </a:xfrm>
          <a:prstGeom prst="rect">
            <a:avLst/>
          </a:prstGeom>
          <a:solidFill>
            <a:srgbClr val="1B3F7A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656832"/>
            <a:ext cx="1219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RSAI  |  남양주시 AI 업무지원 시스템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11480" y="1005840"/>
            <a:ext cx="3520440" cy="53949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005840"/>
            <a:ext cx="3520440" cy="475488"/>
          </a:xfrm>
          <a:prstGeom prst="roundRect">
            <a:avLst>
              <a:gd name="adj" fmla="val 19231"/>
            </a:avLst>
          </a:prstGeom>
          <a:solidFill>
            <a:srgbClr val="1B3F7A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" y="1298448"/>
            <a:ext cx="3520440" cy="182880"/>
          </a:xfrm>
          <a:prstGeom prst="rect">
            <a:avLst/>
          </a:prstGeom>
          <a:solidFill>
            <a:srgbClr val="1B3F7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033272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💬  AI 채팅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" y="1719072"/>
            <a:ext cx="128016" cy="128016"/>
          </a:xfrm>
          <a:prstGeom prst="ellipse">
            <a:avLst/>
          </a:prstGeom>
          <a:solidFill>
            <a:srgbClr val="1B3F7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1600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자유 대화 및 업무 질의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" y="2377440"/>
            <a:ext cx="128016" cy="128016"/>
          </a:xfrm>
          <a:prstGeom prst="ellipse">
            <a:avLst/>
          </a:prstGeom>
          <a:solidFill>
            <a:srgbClr val="1B3F7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25856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웹검색 연동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" y="3035808"/>
            <a:ext cx="128016" cy="128016"/>
          </a:xfrm>
          <a:prstGeom prst="ellipse">
            <a:avLst/>
          </a:prstGeom>
          <a:solidFill>
            <a:srgbClr val="1B3F7A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291693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OpenAI / Google AI 모델 선택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" y="3694176"/>
            <a:ext cx="128016" cy="128016"/>
          </a:xfrm>
          <a:prstGeom prst="ellipse">
            <a:avLst/>
          </a:prstGeom>
          <a:solidFill>
            <a:srgbClr val="1B3F7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57530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내용 내보내기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60520" y="1005840"/>
            <a:ext cx="3520440" cy="53949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60520" y="1005840"/>
            <a:ext cx="3520440" cy="475488"/>
          </a:xfrm>
          <a:prstGeom prst="roundRect">
            <a:avLst>
              <a:gd name="adj" fmla="val 19231"/>
            </a:avLst>
          </a:prstGeom>
          <a:solidFill>
            <a:srgbClr val="7C3AED"/>
          </a:solidFill>
          <a:ln/>
        </p:spPr>
      </p:sp>
      <p:sp>
        <p:nvSpPr>
          <p:cNvPr id="24" name="Shape 22"/>
          <p:cNvSpPr/>
          <p:nvPr/>
        </p:nvSpPr>
        <p:spPr>
          <a:xfrm>
            <a:off x="4160520" y="1298448"/>
            <a:ext cx="3520440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4297680" y="1033272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⚡  AI 도구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61688" y="1719072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1600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보고서 생성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61688" y="2377440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0" y="225856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인사말씀 생성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61688" y="3035808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0" y="291693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보도자료 생성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361688" y="3694176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0" y="357530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공적조서 생성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361688" y="4352544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0" y="423367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생성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361688" y="5010912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0" y="4892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PPT 생성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909560" y="1005840"/>
            <a:ext cx="3520440" cy="53949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909560" y="1005840"/>
            <a:ext cx="3520440" cy="475488"/>
          </a:xfrm>
          <a:prstGeom prst="roundRect">
            <a:avLst>
              <a:gd name="adj" fmla="val 19231"/>
            </a:avLst>
          </a:prstGeom>
          <a:solidFill>
            <a:srgbClr val="2D8A4E"/>
          </a:solidFill>
          <a:ln/>
        </p:spPr>
      </p:sp>
      <p:sp>
        <p:nvSpPr>
          <p:cNvPr id="40" name="Shape 38"/>
          <p:cNvSpPr/>
          <p:nvPr/>
        </p:nvSpPr>
        <p:spPr>
          <a:xfrm>
            <a:off x="7909560" y="1298448"/>
            <a:ext cx="3520440" cy="182880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41" name="Text 39"/>
          <p:cNvSpPr/>
          <p:nvPr/>
        </p:nvSpPr>
        <p:spPr>
          <a:xfrm>
            <a:off x="8046720" y="1033272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⚡  업무 지원 2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110728" y="1719072"/>
            <a:ext cx="128016" cy="128016"/>
          </a:xfrm>
          <a:prstGeom prst="ellipse">
            <a:avLst/>
          </a:prstGeom>
          <a:solidFill>
            <a:srgbClr val="2D8A4E"/>
          </a:solidFill>
          <a:ln/>
        </p:spPr>
      </p:sp>
      <p:sp>
        <p:nvSpPr>
          <p:cNvPr id="43" name="Text 41"/>
          <p:cNvSpPr/>
          <p:nvPr/>
        </p:nvSpPr>
        <p:spPr>
          <a:xfrm>
            <a:off x="8321040" y="1600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보고서 생성 v2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110728" y="2377440"/>
            <a:ext cx="128016" cy="128016"/>
          </a:xfrm>
          <a:prstGeom prst="ellipse">
            <a:avLst/>
          </a:prstGeom>
          <a:solidFill>
            <a:srgbClr val="2D8A4E"/>
          </a:solidFill>
          <a:ln/>
        </p:spPr>
      </p:sp>
      <p:sp>
        <p:nvSpPr>
          <p:cNvPr id="45" name="Text 43"/>
          <p:cNvSpPr/>
          <p:nvPr/>
        </p:nvSpPr>
        <p:spPr>
          <a:xfrm>
            <a:off x="8321040" y="225856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보도자료 생성 v2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110728" y="3035808"/>
            <a:ext cx="128016" cy="128016"/>
          </a:xfrm>
          <a:prstGeom prst="ellipse">
            <a:avLst/>
          </a:prstGeom>
          <a:solidFill>
            <a:srgbClr val="2D8A4E"/>
          </a:solidFill>
          <a:ln/>
        </p:spPr>
      </p:sp>
      <p:sp>
        <p:nvSpPr>
          <p:cNvPr id="47" name="Text 45"/>
          <p:cNvSpPr/>
          <p:nvPr/>
        </p:nvSpPr>
        <p:spPr>
          <a:xfrm>
            <a:off x="8321040" y="291693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인사말씀 생성 v2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110728" y="3694176"/>
            <a:ext cx="128016" cy="128016"/>
          </a:xfrm>
          <a:prstGeom prst="ellipse">
            <a:avLst/>
          </a:prstGeom>
          <a:solidFill>
            <a:srgbClr val="2D8A4E"/>
          </a:solidFill>
          <a:ln/>
        </p:spPr>
      </p:sp>
      <p:sp>
        <p:nvSpPr>
          <p:cNvPr id="49" name="Text 47"/>
          <p:cNvSpPr/>
          <p:nvPr/>
        </p:nvSpPr>
        <p:spPr>
          <a:xfrm>
            <a:off x="8321040" y="357530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공적조서 생성 v2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110728" y="4352544"/>
            <a:ext cx="128016" cy="128016"/>
          </a:xfrm>
          <a:prstGeom prst="ellipse">
            <a:avLst/>
          </a:prstGeom>
          <a:solidFill>
            <a:srgbClr val="2D8A4E"/>
          </a:solidFill>
          <a:ln/>
        </p:spPr>
      </p:sp>
      <p:sp>
        <p:nvSpPr>
          <p:cNvPr id="51" name="Text 49"/>
          <p:cNvSpPr/>
          <p:nvPr/>
        </p:nvSpPr>
        <p:spPr>
          <a:xfrm>
            <a:off x="8321040" y="423367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확대간부회의 자료 생성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11480" y="64465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외 기능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148840" y="6428232"/>
            <a:ext cx="1737360" cy="201168"/>
          </a:xfrm>
          <a:prstGeom prst="roundRect">
            <a:avLst>
              <a:gd name="adj" fmla="val 2272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148840" y="642823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338C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템플릿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069080" y="6428232"/>
            <a:ext cx="1737360" cy="201168"/>
          </a:xfrm>
          <a:prstGeom prst="roundRect">
            <a:avLst>
              <a:gd name="adj" fmla="val 2272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069080" y="642823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338C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 검색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5989320" y="6428232"/>
            <a:ext cx="1737360" cy="201168"/>
          </a:xfrm>
          <a:prstGeom prst="roundRect">
            <a:avLst>
              <a:gd name="adj" fmla="val 2272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89320" y="642823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338C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변환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909560" y="6428232"/>
            <a:ext cx="1737360" cy="201168"/>
          </a:xfrm>
          <a:prstGeom prst="roundRect">
            <a:avLst>
              <a:gd name="adj" fmla="val 2272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909560" y="642823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338C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자유게시판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9829800" y="6428232"/>
            <a:ext cx="1737360" cy="201168"/>
          </a:xfrm>
          <a:prstGeom prst="roundRect">
            <a:avLst>
              <a:gd name="adj" fmla="val 2272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829800" y="642823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338C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도구 모음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B3F7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0"/>
            <a:ext cx="1584960" cy="91440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74320"/>
            <a:ext cx="64008" cy="438912"/>
          </a:xfrm>
          <a:prstGeom prst="rect">
            <a:avLst/>
          </a:prstGeom>
          <a:solidFill>
            <a:srgbClr val="1B3F7A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23774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채팅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" y="566928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관련 질문을 자유롭게 입력하면 AI가 답변합니다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877824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6766560"/>
            <a:ext cx="12192000" cy="73152"/>
          </a:xfrm>
          <a:prstGeom prst="rect">
            <a:avLst/>
          </a:prstGeom>
          <a:solidFill>
            <a:srgbClr val="1B3F7A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656832"/>
            <a:ext cx="1219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RSAI  |  남양주시 AI 업무지원 시스템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11480" y="105156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61288" y="125272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웹검색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1737360"/>
            <a:ext cx="49377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856232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 정보가 필요한 질문에 자동으로 웹검색 결과를 반영하여 답변합니다. 검색 ON/OFF 전환 가능.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105156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30568" y="125272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모델 선택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1737360"/>
            <a:ext cx="49377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856232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OpenAI(ChatGPT), Google AI(Gemini) 두 가지 모델을 상황에 따라 전환하여 사용할 수 있습니다.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56616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61288" y="376732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내보내기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4251960"/>
            <a:ext cx="49377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370832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 내용을 텍스트 파일로 내보낼 수 있습니다. 업무 참고자료로 저장하여 활용하세요.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356616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830568" y="376732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템플릿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309360" y="4251960"/>
            <a:ext cx="49377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4370832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공무원 업무에 특화된 AI 프롬프트 템플릿을 제공합니다. 자주 쓰는 형식을 빠르게 불러옵니다.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B3F7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0"/>
            <a:ext cx="1584960" cy="91440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74320"/>
            <a:ext cx="64008" cy="438912"/>
          </a:xfrm>
          <a:prstGeom prst="rect">
            <a:avLst/>
          </a:prstGeom>
          <a:solidFill>
            <a:srgbClr val="1B3F7A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23774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도구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" y="566928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쓰는 공문서를 AI가 자동으로 초안 작성합니다 — HWP 파일 다운로드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877824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6766560"/>
            <a:ext cx="12192000" cy="73152"/>
          </a:xfrm>
          <a:prstGeom prst="rect">
            <a:avLst/>
          </a:prstGeom>
          <a:solidFill>
            <a:srgbClr val="1B3F7A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656832"/>
            <a:ext cx="1219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RSAI  |  남양주시 AI 업무지원 시스템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11480" y="987552"/>
            <a:ext cx="11064240" cy="347472"/>
          </a:xfrm>
          <a:prstGeom prst="rect">
            <a:avLst/>
          </a:prstGeom>
          <a:solidFill>
            <a:srgbClr val="1B3F7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98755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51760" y="98755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항목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406640" y="98755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 결과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1335024"/>
            <a:ext cx="11064240" cy="8046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480" y="2139696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14600" y="1335024"/>
            <a:ext cx="0" cy="80467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69480" y="1335024"/>
            <a:ext cx="0" cy="80467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1536192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EEF3FB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153619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3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보고서 생성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651760" y="1517904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부서명, 제목, 핵심 내용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406640" y="151790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구조화된 업무보고서 HWP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2139696"/>
            <a:ext cx="11064240" cy="804672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3" name="Shape 21"/>
          <p:cNvSpPr/>
          <p:nvPr/>
        </p:nvSpPr>
        <p:spPr>
          <a:xfrm>
            <a:off x="411480" y="2944368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14600" y="2139696"/>
            <a:ext cx="0" cy="80467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69480" y="2139696"/>
            <a:ext cx="0" cy="80467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2340864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EEF3FB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234086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3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인사말씀 생성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651760" y="2322576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행사명, 행사 내용, 참석 대상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406640" y="2322576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격식체 인사말씀 원고 HWP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11480" y="2944368"/>
            <a:ext cx="11064240" cy="8046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11480" y="374904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14600" y="2944368"/>
            <a:ext cx="0" cy="80467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69480" y="2944368"/>
            <a:ext cx="0" cy="80467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3145536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EEF3FB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314553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3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보도자료 생성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651760" y="3127248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제목, 핵심 내용, 일시·장소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406640" y="312724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공식 보도자료 형식 HWP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11480" y="3749040"/>
            <a:ext cx="11064240" cy="804672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9" name="Shape 37"/>
          <p:cNvSpPr/>
          <p:nvPr/>
        </p:nvSpPr>
        <p:spPr>
          <a:xfrm>
            <a:off x="411480" y="4553712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14600" y="3749040"/>
            <a:ext cx="0" cy="80467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269480" y="3749040"/>
            <a:ext cx="0" cy="80467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" y="3950208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EEF3FB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395020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3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공적조서 생성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651760" y="3931920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수상자 정보, 분야, 핵심 공적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406640" y="393192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공무원·일반인 공적조서 HWP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11480" y="4553712"/>
            <a:ext cx="11064240" cy="8046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45"/>
          <p:cNvSpPr/>
          <p:nvPr/>
        </p:nvSpPr>
        <p:spPr>
          <a:xfrm>
            <a:off x="411480" y="5358384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514600" y="4553712"/>
            <a:ext cx="0" cy="80467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269480" y="4553712"/>
            <a:ext cx="0" cy="80467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8640" y="4754880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EEF3FB"/>
          </a:solidFill>
          <a:ln/>
        </p:spPr>
      </p:sp>
      <p:sp>
        <p:nvSpPr>
          <p:cNvPr id="51" name="Text 49"/>
          <p:cNvSpPr/>
          <p:nvPr/>
        </p:nvSpPr>
        <p:spPr>
          <a:xfrm>
            <a:off x="548640" y="475488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3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생성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2651760" y="4736592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자료 내용 붙여넣기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406640" y="473659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발표용 구어체 시나리오 HWP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11480" y="5358384"/>
            <a:ext cx="11064240" cy="804672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5" name="Shape 53"/>
          <p:cNvSpPr/>
          <p:nvPr/>
        </p:nvSpPr>
        <p:spPr>
          <a:xfrm>
            <a:off x="411480" y="6163056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514600" y="5358384"/>
            <a:ext cx="0" cy="80467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269480" y="5358384"/>
            <a:ext cx="0" cy="80467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48640" y="5559552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EEF3FB"/>
          </a:solidFill>
          <a:ln/>
        </p:spPr>
      </p:sp>
      <p:sp>
        <p:nvSpPr>
          <p:cNvPr id="59" name="Text 57"/>
          <p:cNvSpPr/>
          <p:nvPr/>
        </p:nvSpPr>
        <p:spPr>
          <a:xfrm>
            <a:off x="548640" y="555955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3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PPT 생성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2651760" y="5541264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제목, 주요 내용, 슬라이드 수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7406640" y="554126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구성 프레젠테이션 PPTX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B3F7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0"/>
            <a:ext cx="1584960" cy="91440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74320"/>
            <a:ext cx="64008" cy="438912"/>
          </a:xfrm>
          <a:prstGeom prst="rect">
            <a:avLst/>
          </a:prstGeom>
          <a:solidFill>
            <a:srgbClr val="1B3F7A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23774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지원 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" y="566928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남양주시 공식 서식이 적용된 HWP 파일을 AI가 자동 생성합니다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877824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6766560"/>
            <a:ext cx="12192000" cy="73152"/>
          </a:xfrm>
          <a:prstGeom prst="rect">
            <a:avLst/>
          </a:prstGeom>
          <a:solidFill>
            <a:srgbClr val="1B3F7A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656832"/>
            <a:ext cx="1219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RSAI  |  남양주시 AI 업무지원 시스템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11480" y="100584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298448"/>
            <a:ext cx="804672" cy="274320"/>
          </a:xfrm>
          <a:prstGeom prst="roundRect">
            <a:avLst>
              <a:gd name="adj" fmla="val 26667"/>
            </a:avLst>
          </a:prstGeom>
          <a:solidFill>
            <a:srgbClr val="DBEAFE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129844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508760" y="11155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보고서 생성 v2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08760" y="1481328"/>
            <a:ext cx="9784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구조화된 업무보고서. 제목·부제목·섹션·항목 자동 구성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2084832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377440"/>
            <a:ext cx="804672" cy="274320"/>
          </a:xfrm>
          <a:prstGeom prst="roundRect">
            <a:avLst>
              <a:gd name="adj" fmla="val 26667"/>
            </a:avLst>
          </a:prstGeom>
          <a:solidFill>
            <a:srgbClr val="DBEAFE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2377440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21945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보도자료 생성 v2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08760" y="2560320"/>
            <a:ext cx="9784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공식 보도자료 형식. 남양주시 양식 그대로 적용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3163824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3456432"/>
            <a:ext cx="804672" cy="274320"/>
          </a:xfrm>
          <a:prstGeom prst="roundRect">
            <a:avLst>
              <a:gd name="adj" fmla="val 26667"/>
            </a:avLst>
          </a:prstGeom>
          <a:solidFill>
            <a:srgbClr val="DBEAFE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3456432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508760" y="327355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인사말씀 생성 v2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508760" y="3639312"/>
            <a:ext cx="9784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행사별 맞춤 인사말씀. 분량·문체 자동 조정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" y="4242816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" y="4535424"/>
            <a:ext cx="804672" cy="274320"/>
          </a:xfrm>
          <a:prstGeom prst="roundRect">
            <a:avLst>
              <a:gd name="adj" fmla="val 26667"/>
            </a:avLst>
          </a:prstGeom>
          <a:solidFill>
            <a:srgbClr val="DBEAFE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4535424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508760" y="435254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공적조서 생성 v2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508760" y="4718304"/>
            <a:ext cx="9784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공무원·일반인 구분 작성. 핵심 성과 자동 변환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11480" y="5321808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" y="5614416"/>
            <a:ext cx="804672" cy="274320"/>
          </a:xfrm>
          <a:prstGeom prst="roundRect">
            <a:avLst>
              <a:gd name="adj" fmla="val 26667"/>
            </a:avLst>
          </a:prstGeom>
          <a:solidFill>
            <a:srgbClr val="D1FAE5"/>
          </a:solidFill>
          <a:ln/>
        </p:spPr>
      </p:sp>
      <p:sp>
        <p:nvSpPr>
          <p:cNvPr id="32" name="Text 30"/>
          <p:cNvSpPr/>
          <p:nvPr/>
        </p:nvSpPr>
        <p:spPr>
          <a:xfrm>
            <a:off x="566928" y="5614416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5F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508760" y="543153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확대간부회의 자료 생성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508760" y="5797296"/>
            <a:ext cx="9784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기본형·교육형·사업형·행사1형·행사2형 5가지 템플릿 지원. A4 가로 1장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B3F7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0"/>
            <a:ext cx="1584960" cy="91440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74320"/>
            <a:ext cx="64008" cy="438912"/>
          </a:xfrm>
          <a:prstGeom prst="rect">
            <a:avLst/>
          </a:prstGeom>
          <a:solidFill>
            <a:srgbClr val="1B3F7A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23774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부가 기능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" y="566928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효율을 높이는 다양한 보조 도구를 제공합니다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877824"/>
            <a:ext cx="11064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6766560"/>
            <a:ext cx="12192000" cy="73152"/>
          </a:xfrm>
          <a:prstGeom prst="rect">
            <a:avLst/>
          </a:prstGeom>
          <a:solidFill>
            <a:srgbClr val="1B3F7A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656832"/>
            <a:ext cx="1219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RSAI  |  남양주시 AI 업무지원 시스템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11480" y="1024128"/>
            <a:ext cx="5394960" cy="2450592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024128"/>
            <a:ext cx="5394960" cy="512064"/>
          </a:xfrm>
          <a:prstGeom prst="roundRect">
            <a:avLst>
              <a:gd name="adj" fmla="val 17857"/>
            </a:avLst>
          </a:prstGeom>
          <a:solidFill>
            <a:srgbClr val="7C3AED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" y="1353312"/>
            <a:ext cx="5394960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111556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📚  RAG (NotebookLM)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1682496"/>
            <a:ext cx="502920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 문서를 업로드하면 AI가 해당 문서 기반으로 질의응답합니다. 조례·지침·매뉴얼 활용에 적합합니다.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1024128"/>
            <a:ext cx="5394960" cy="2450592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024128"/>
            <a:ext cx="5394960" cy="512064"/>
          </a:xfrm>
          <a:prstGeom prst="roundRect">
            <a:avLst>
              <a:gd name="adj" fmla="val 17857"/>
            </a:avLst>
          </a:prstGeom>
          <a:solidFill>
            <a:srgbClr val="2D8A4E"/>
          </a:solidFill>
          <a:ln/>
        </p:spPr>
      </p:sp>
      <p:sp>
        <p:nvSpPr>
          <p:cNvPr id="17" name="Shape 15"/>
          <p:cNvSpPr/>
          <p:nvPr/>
        </p:nvSpPr>
        <p:spPr>
          <a:xfrm>
            <a:off x="6080760" y="1353312"/>
            <a:ext cx="5394960" cy="182880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11556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🔤  텍스트 변환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1682496"/>
            <a:ext cx="502920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작성한 문장의 문체를 공식체·구어체로 변환하거나 맞춤법 교정, 표현 다듬기를 자동으로 처리합니다.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721608"/>
            <a:ext cx="5394960" cy="2450592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721608"/>
            <a:ext cx="5394960" cy="512064"/>
          </a:xfrm>
          <a:prstGeom prst="roundRect">
            <a:avLst>
              <a:gd name="adj" fmla="val 17857"/>
            </a:avLst>
          </a:prstGeom>
          <a:solidFill>
            <a:srgbClr val="1B3F7A"/>
          </a:solidFill>
          <a:ln/>
        </p:spPr>
      </p:sp>
      <p:sp>
        <p:nvSpPr>
          <p:cNvPr id="22" name="Shape 20"/>
          <p:cNvSpPr/>
          <p:nvPr/>
        </p:nvSpPr>
        <p:spPr>
          <a:xfrm>
            <a:off x="411480" y="4050792"/>
            <a:ext cx="5394960" cy="182880"/>
          </a:xfrm>
          <a:prstGeom prst="rect">
            <a:avLst/>
          </a:prstGeom>
          <a:solidFill>
            <a:srgbClr val="1B3F7A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81304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🤖  AI 자유게시판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4379976"/>
            <a:ext cx="502920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직원들이 AI 활용 사례, 프롬프트 팁, 질문을 자유롭게 공유하는 게시판입니다.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3721608"/>
            <a:ext cx="5394960" cy="2450592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80760" y="3721608"/>
            <a:ext cx="5394960" cy="512064"/>
          </a:xfrm>
          <a:prstGeom prst="roundRect">
            <a:avLst>
              <a:gd name="adj" fmla="val 17857"/>
            </a:avLst>
          </a:prstGeom>
          <a:solidFill>
            <a:srgbClr val="0369A1"/>
          </a:solidFill>
          <a:ln/>
        </p:spPr>
      </p:sp>
      <p:sp>
        <p:nvSpPr>
          <p:cNvPr id="27" name="Shape 25"/>
          <p:cNvSpPr/>
          <p:nvPr/>
        </p:nvSpPr>
        <p:spPr>
          <a:xfrm>
            <a:off x="6080760" y="4050792"/>
            <a:ext cx="5394960" cy="18288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381304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🌐  외부 도구 모음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63640" y="4379976"/>
            <a:ext cx="502920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숏폼 에디터, 차트 에디터, 화면 녹화, 최신 AI 도구, 연속지적도 등 업무 보조 도구 모음입니다.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F7A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0"/>
            <a:ext cx="2834640" cy="6858000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4" name="Shape 2"/>
          <p:cNvSpPr/>
          <p:nvPr/>
        </p:nvSpPr>
        <p:spPr>
          <a:xfrm>
            <a:off x="8503920" y="0"/>
            <a:ext cx="274320" cy="68580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3736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나은 업무 환경을</a:t>
            </a:r>
            <a:endParaRPr lang="en-US" sz="3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AI와 함께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3218688"/>
            <a:ext cx="3657600" cy="0"/>
          </a:xfrm>
          <a:prstGeom prst="line">
            <a:avLst/>
          </a:prstGeom>
          <a:noFill/>
          <a:ln w="25400">
            <a:solidFill>
              <a:srgbClr val="2D8A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40156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4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궁금한 사항은 정보통신과로 문의해 주세요.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62910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A8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RSAI  |  남양주시 AI 업무지원 시스템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2026-03-26T09:24:34Z</dcterms:created>
  <dcterms:modified xsi:type="dcterms:W3CDTF">2026-03-26T09:24:34Z</dcterms:modified>
</cp:coreProperties>
</file>